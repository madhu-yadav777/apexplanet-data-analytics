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" y="2"/>
            <a:ext cx="11" cy="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3A56A3"/>
                </a:solidFill>
              </a:rPr>
              <a:t>Exploratory Data Analysis</a:t>
            </a:r>
          </a:p>
          <a:p>
            <a:r>
              <a:rPr sz="2000">
                <a:solidFill>
                  <a:srgbClr val="1F2937"/>
                </a:solidFill>
              </a:rPr>
              <a:t>ApexPlanet - Retail Sales Analytics</a:t>
            </a:r>
          </a:p>
          <a:p>
            <a:r>
              <a:rPr sz="1300">
                <a:solidFill>
                  <a:srgbClr val="666666"/>
                </a:solidFill>
              </a:rPr>
              <a:t>Generated: 2026-10-03 11:29 |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1. 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The analysis uses the cleaned ApexPlanet retail dataset: 2,001 rows × 13 columns.</a:t>
            </a:r>
          </a:p>
          <a:p>
            <a:pPr>
              <a:defRPr sz="1300">
                <a:solidFill>
                  <a:srgbClr val="1F2937"/>
                </a:solidFill>
              </a:defRPr>
            </a:pP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Order_Date: 678 unique dates spanning 2023-2024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Age: 49 unique values (range 17-66 years)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City: 15 cities (Denver is the top market)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Product_Category: 6 categories (Electronics dominates)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Product: 30 SKUs (Tablet is the best seller)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Payment_Method: 6 methods (Debit Card most used)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2. Key Performance Indicators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188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$904.5K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performance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Transaction volume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Avg Order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$452.02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Per-transaction revenue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Avg Customer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satisfaction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Number of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 buyers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t>Avg Discount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Promotion usage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3. Top Categories &amp;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rPr b="1" sz="1500">
                <a:solidFill>
                  <a:srgbClr val="3A56A3"/>
                </a:solidFill>
              </a:rPr>
              <a:t>Revenue by Category</a:t>
            </a:r>
          </a:p>
          <a:p>
            <a:pPr>
              <a:defRPr sz="1200">
                <a:solidFill>
                  <a:srgbClr val="1F2937"/>
                </a:solidFill>
              </a:defRPr>
            </a:pP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1. Electronics: $436.9K (353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2. Home &amp; Kitchen: $150.9K (324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3. Sports: $122.1K (351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4. Beauty: $83.5K (309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5. Apparel: $74.9K (321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6. Books &amp; Media: $36.3K (343 orders)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rPr b="1" sz="1500">
                <a:solidFill>
                  <a:srgbClr val="3A56A3"/>
                </a:solidFill>
              </a:rPr>
              <a:t>Top 5 Products</a:t>
            </a:r>
          </a:p>
          <a:p>
            <a:pPr>
              <a:defRPr sz="1200">
                <a:solidFill>
                  <a:srgbClr val="1F2937"/>
                </a:solidFill>
              </a:defRPr>
            </a:pP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1. Tablet (Electronics): $110.3K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2. Laptop (Electronics): $87.4K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3. Headphones (Electronics): $84.8K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4. Smart Watch (Electronics): $77.8K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5. Smartphone (Electronics): $76.5K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4. Correlation &amp;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Quantity and Total_Sales show the strongest relationship (r = 0.40)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Unit_Price has 2001 records with a wide spread (IQR bounds -245.26 to 620.29 USD) — high values are premium purchases, not errors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Total_Sales has 2001 records flagged by the IQR rule, all above the upper bound (high-value transactions)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Age, Quantity, Discount and Customer_Rating have no IQR outliers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Age range 17-66 years with average 40.5 — core customer is a young adult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5. 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2023-01: $39.5K (81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2023-02: $30.3K (63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2023-03: $22.3K (73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2023-04: $50.5K (92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2023-05: $42.1K (85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2023-06: $34.0K (73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2023-07: $36.9K (79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2023-08: $32.6K (77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2023-09: $34.4K (78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2023-10: $36.1K (88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2023-11: $32.5K (82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2023-12: $33.5K (79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2024-01: $44.1K (90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2024-02: $35.2K (87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2024-03: $39.1K (79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2024-04: $30.1K (88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2024-05: $33.1K (75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2024-06: $34.2K (76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2024-07: $39.1K (80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2024-08: $31.8K (74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2024-09: $45.8K (100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2024-10: $50.4K (95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2024-11: $30.1K (77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2024-12: $66.7K (130 orders)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6. Top Cities &amp; Payment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rPr b="1" sz="1500">
                <a:solidFill>
                  <a:srgbClr val="3A56A3"/>
                </a:solidFill>
              </a:rPr>
              <a:t>Top 5 Cities</a:t>
            </a:r>
          </a:p>
          <a:p>
            <a:pPr>
              <a:defRPr sz="1200">
                <a:solidFill>
                  <a:srgbClr val="1F2937"/>
                </a:solidFill>
              </a:defRPr>
            </a:pP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1. Denver: $80.4K (138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2. Phoenix: $70.3K (129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3. Philadelphia: $69.6K (141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4. Miami: $69.5K (148 orders)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5. Seattle: $64.7K (131 orders)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rPr b="1" sz="1500">
                <a:solidFill>
                  <a:srgbClr val="3A56A3"/>
                </a:solidFill>
              </a:rPr>
              <a:t>Orders by Payment Method</a:t>
            </a:r>
          </a:p>
          <a:p>
            <a:pPr>
              <a:defRPr sz="1200">
                <a:solidFill>
                  <a:srgbClr val="1F2937"/>
                </a:solidFill>
              </a:defRPr>
            </a:pP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1. Debit Card: 352 orders / $169.4K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2. Gift Card: 337 orders / $147.5K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3. Cash: 334 orders / $159.3K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4. PayPal: 328 orders / $153.8K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5. Credit Card: 325 orders / $140.9K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6. Bank Transfer: 325 orders / $133.6K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7.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01. Total revenue across the period (2023-01-01 to 2024-12-31) is $904,499.61 from 2,001 orders by 2,000 unique customers.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02. Average order value is $452.02 and 3,886 units were sold in total.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03. 'Electronics' is the highest-grossing category at $436,893.98 (48.3% of total revenue).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04. 'Books &amp; Media' is the lowest-grossing category at $36,259.81, a candidate for promotion, bundling or portfolio review.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05. 'Tablet' is the single best-selling product with $110,345.70 in revenue.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06. 'Denver' leads all regions in sales with $80,425.80 (8.9% of total revenue).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07. 'Debit Card' is the most used payment method with 352 (17.6%) of all orders.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08. Sales grew by 12.9% from 2023 to 2024 ($424,754 to $479,745), indicating a positive momentum.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09. 'December 2024' was the peak sales month, consistent with a post-holiday/promotional surge.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10. Quantity and total sales show a strong positive correlation (r = 0.40); buying more units drives more revenue.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11. 'Books &amp; Media' earns the highest average customer rating (3.43/5), suggesting strong product-market fit in that segment.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12. The average customer rating is 3.40/5 across 2,001 orders.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13. A discount of 11.4% (average) has a positive relationship with customer rating (r = 0.01); deeper discounts do not reliably improve satisfaction.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14. Customers aged 25-44 make up 61.3% of orders (average age 40.5), pointing to a strong young-adult core demographic.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15. Customer 'CUST_000304' is the top spender with $6,009.12, a prime candidate for loyalty / retention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8. Key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1F2937"/>
                </a:solidFill>
              </a:defRPr>
            </a:pPr>
            <a:r>
              <a:t>• Focus retention on the young-adult core (ages 25-44 = 61.3% of orders).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Double down on Electronics; it contributes 48.3% of revenue.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Review 'Books &amp; Media' pricing/merchandising — lowest revenue but highest rating (3.43/5).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Cap discounts strategically; deeper discounts do not reliably improve customer satisfaction.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Launch a loyalty program for top spenders like 'CUST_000304' ($6,009.12 lifetime value).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Optimize for Debit Card transactions (17.6% of orders) and grow credit card share.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56A3"/>
                </a:solidFill>
              </a:rPr>
              <a:t>9. Methodology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Pipeline: data_cleaning.py → eda.py → database_analysis.py → generate_report.py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Data cleaning: median/mode imputation, negative qty fix, invalid age fix, deduplication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KPIs: 12 business metrics computed from cleaned data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Outliers: IQR method on 6 numeric columns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Database: SQLite (data/analytics.db) with 9 analytical queries via SQLAlchemy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Visualizations: 14 charts in visualizations/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Reports: EDA_Report.pdf + EDA_Report.pptx</a:t>
            </a:r>
          </a:p>
          <a:p>
            <a:pPr>
              <a:defRPr sz="1300">
                <a:solidFill>
                  <a:srgbClr val="1F2937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